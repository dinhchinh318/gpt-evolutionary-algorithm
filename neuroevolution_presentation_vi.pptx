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389120"/>
            <a:ext cx="8823960" cy="13716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Eventually, All You Need is a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Evolutionary Algorithm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Neuroevolution cho các bài toán điều khiển liên tục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Saliby et al., GECCO 2024 | Trình bày: Formulation &amp; Phương pháp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 Cục Bài Trình Bày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502920" cy="5303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15568" y="93268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&amp; Câu hỏi nghiên cứu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636776"/>
            <a:ext cx="502920" cy="5303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3677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15568" y="1700784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tiến hóa (EAs)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502920" cy="5303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0487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15568" y="24688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gian tìm kiếm &amp; Formulation bài toán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172968"/>
            <a:ext cx="502920" cy="5303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7296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15568" y="3236976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đánh giá: NER, NoVS, EtTQ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941064"/>
            <a:ext cx="502920" cy="530352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4106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15568" y="400507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thực nghiệm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&amp; Vấn Đề Đặt Ra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68680"/>
            <a:ext cx="402336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686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Neuroevolution (NE) là gì?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298448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thuật toán tiến hóa (EA) để tối ưu trọng số mạng nơ-ron nhân tạo (ANN)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thế cho học máy có giám sát và Reinforcement Learning (RL)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với bài toán điều khiển liên tục (continuous control)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868680"/>
            <a:ext cx="4023360" cy="384048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8686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thực tiễn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298448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rất nhiều EA khác nhau — nên chọn EA nào?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 "đắt" (expensive): không thể thử tất cả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 chọn EA phức tạp với hy vọng hiệu quả hơn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8366760" cy="1600200"/>
          </a:xfrm>
          <a:prstGeom prst="rect">
            <a:avLst/>
          </a:prstGeom>
          <a:solidFill>
            <a:srgbClr val="EBF8F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44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Nghiên Cứu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291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Các EA phức tạp có thực sự hoạt động tốt hơn trên bài toán điều khiển phức tạp?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Hiệu suất của EA trên bài toán đơn giản có dự đoán được hiệu suất trên bài toán phức tạp hơn không?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38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011680" y="164592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Thuật Toán Tiến Hóa (EAs)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011680" y="274320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EA nổi bật được so sánh trong nghiên cứu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Gian Tìm Kiếm Chung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8412480" cy="685800"/>
          </a:xfrm>
          <a:prstGeom prst="rect">
            <a:avLst/>
          </a:prstGeom>
          <a:solidFill>
            <a:srgbClr val="EBF8F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 cả các EA đều làm việc trên không gian số thực  x ∈ ℝᵖ  (ngoại trừ GA, tổng quát hơn)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1907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719072"/>
            <a:ext cx="64008" cy="8046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64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CMA-ES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0391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Ước tính phân phối tham số; tự điều chỉnh bước (step-size); default params theo Hansen 2016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58775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587752"/>
            <a:ext cx="64008" cy="8046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33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(Differential Evolution)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9077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DE/rand/1; nₚₒₚ=15, F=0.5, CR=0.8; đột biến qua véc-tơ vi phân; có crossover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45643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456432"/>
            <a:ext cx="64008" cy="8046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02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(Particle Swarm)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77647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nₚₒₚ=100, w=0.8, φ_p=1.5, φ_g=1.5; lực nhận thức + lực xã hội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71907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719072"/>
            <a:ext cx="64008" cy="80467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764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(Evolution Strategy)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0391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n_parents tốt nhất → tính mean μ → lấy mẫu từ N(μ, σI); σ ∈ {0.02, 0.25, 0.5}; nₚₒₚ=30, n_par=10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58775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587752"/>
            <a:ext cx="64008" cy="80467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633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(Genetic Algorithm)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9077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Mutation: x' = x + ε, ε~N(0,σI); Crossover: x' = x₁ + α(x₂−x₁) + ε, α~U[0,1]; σ ∈ {0.02, 0.25, 0.5}; nₚₒₚ=100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3447288"/>
            <a:ext cx="416052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4930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Chỉ GA và DE sử dụng crossover — điểm mấu chốt của nghiên cứu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114800"/>
            <a:ext cx="850392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148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dừng chung cho tất cả EA:  nₑᵥₐₗ = 10 000 lượt đánh giá hàm mục tiêu  |  Khởi tạo: U([−1, 1])ᵖ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38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011680" y="164592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Bài Toán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011680" y="274320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Bốn kịch bản với mức độ phức tạp tăng dần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Bốn Kịch Bản — Tổng Quan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31720"/>
            <a:ext cx="82296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phức tạp tăng dần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868680"/>
            <a:ext cx="2057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1288" y="786384"/>
            <a:ext cx="548640" cy="54864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786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3533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7922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trực tiếp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20–500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rot="2700000">
            <a:off x="1207008" y="2249424"/>
            <a:ext cx="164592" cy="1645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868680"/>
            <a:ext cx="2057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5848" y="786384"/>
            <a:ext cx="548640" cy="54864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786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97480" y="13533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97480" y="17922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fit dữ liệu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81–430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rot="2700000">
            <a:off x="3401568" y="2249424"/>
            <a:ext cx="164592" cy="16459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868680"/>
            <a:ext cx="2057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50408" y="786384"/>
            <a:ext cx="548640" cy="54864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0408" y="786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13533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17922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điều khiển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bánh xe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122–464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rot="2700000">
            <a:off x="5596128" y="2249424"/>
            <a:ext cx="164592" cy="1645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868680"/>
            <a:ext cx="2057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42048" y="786384"/>
            <a:ext cx="548640" cy="548640"/>
          </a:xfrm>
          <a:prstGeom prst="ellipse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42048" y="786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13533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Robot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0" y="17922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điều khiển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mềm 2D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52–420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rot="2700000">
            <a:off x="7287768" y="2249424"/>
            <a:ext cx="164592" cy="164592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2651760"/>
            <a:ext cx="841248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27249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khác biệt cốt lõi giữa các kịch bản: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3090672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1: ánh xạ x → f(x) rất trực tiếp (tính toán đơn thuần)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2–3: ánh xạ θ → f(θ) qua ANN và dataset/simulation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4: ánh xạ gián tiếp nhất — qua động lực học phức tạp của robot mềm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1 — Bài Toán Tổng Hợp (Synthetic Problems)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Tìm x* = argmin f(x),  x ∈ ℝᵖ,  p ∈ {20, 100, 200, 500}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25880"/>
            <a:ext cx="64008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389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4632" y="1664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Σ xᵢ²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1920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Unimodal, x*=0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325880"/>
            <a:ext cx="64008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389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Aiming (PA)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19472" y="1664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‖x − x*‖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9472" y="1920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Unimodal, x*=1 và x*=10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3317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331720"/>
            <a:ext cx="64008" cy="8686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395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Point Aiming (CPA)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" y="2670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min‖x − xᵢ*‖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" y="29260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Multimodal, 5 điểm tối ưu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3317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331720"/>
            <a:ext cx="64008" cy="8686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395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Ackley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19472" y="2670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−20 exp(−0.2√(Σxᵢ²/p)) − exp(Σcos(2πxᵢ)/p) + 20+e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9472" y="29260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Multimodal, nhiều local optima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33756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337560"/>
            <a:ext cx="64008" cy="868680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4015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Rastrigin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36758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10p + Σ(xᵢ² − 10cos(2πxᵢ))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39319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Multimodal, landscape gồ ghề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2 — ANN-based Regression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41248"/>
            <a:ext cx="8412480" cy="1234440"/>
          </a:xfrm>
          <a:prstGeom prst="rect">
            <a:avLst/>
          </a:prstGeom>
          <a:solidFill>
            <a:srgbClr val="EBF8F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896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16152"/>
            <a:ext cx="80924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dataset D = {(x⁽ⁱ⁾, y⁽ⁱ⁾)},  x⁽ⁱ⁾ ∈ ℝᵐ,  y⁽ⁱ⁾ ∈ ℝ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θ ∈ ℝᵖ (trọng số ANN) để minimize MSE:  f(θ) = (1/n)Σ(g(x⁽ⁱ⁾; θ) − y⁽ⁱ⁾)²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ANN: 1 hidden layer với kích thước {m, 2m, 3m},  activation: tanh,  |θ| = p = (m+1)·ρ_h·m + (ρ_h·m+1)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dataset thực tế: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42032"/>
          <a:ext cx="8412480" cy="16002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(thuộc tính)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 mẫu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(tham số ANN)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 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 / 153 / 225  (ρₕ=1,2,3)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 / 153 / 225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Wine 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 / 265 / 430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65760" y="42245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hóa: x⁽ⁱ⁾ standardized; y⁽ⁱ⁾ rescaled về [−1, 1]  |  Tổng cộng: 9 bài toán (3 dataset × 3 ANN size)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3 — ANN-based 2D Navigation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41248"/>
            <a:ext cx="5120640" cy="1508760"/>
          </a:xfrm>
          <a:prstGeom prst="rect">
            <a:avLst/>
          </a:prstGeom>
          <a:solidFill>
            <a:srgbClr val="EBF8F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896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48006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Robot bánh xe vi sai (differential-drive), bán kính 5cm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(cảm biến): m cảm biến proximity + góc &amp; khoảng cách tới mục tiêu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2 tốc độ bánh xe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mục tiêu: f(θ) = trung bình khoảng cách tới target (minimize)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5120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423160"/>
            <a:ext cx="64008" cy="8686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87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ANN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76148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m+2 nơ-ron  |  Hidden: 3(m+2) nơ-ron, tanh  |  Output: 2 nơ-ron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∈ {3, 5, 9}  →  p ∈ {122, 212, 464}  |  Simulation: 60 giây, Δt=0.1s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23560" y="841248"/>
            <a:ext cx="315468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886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loại arena: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15000" y="1261872"/>
            <a:ext cx="109728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25312" y="12710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25312" y="1463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rào cản nhỏ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15000" y="1883664"/>
            <a:ext cx="109728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25312" y="18928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25312" y="20848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rào cản lớn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15000" y="2505456"/>
            <a:ext cx="109728" cy="347472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25312" y="2514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25312" y="27066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rào cản (mê cung)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383280"/>
            <a:ext cx="8412480" cy="777240"/>
          </a:xfrm>
          <a:prstGeom prst="rect">
            <a:avLst/>
          </a:prstGeom>
          <a:solidFill>
            <a:srgbClr val="FFF3CD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429000"/>
            <a:ext cx="8092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Tổng: 9 bài toán (3 arena × 3 ANN size). Fitness có tính ngẫu nhiên (stochastic) vì robot được đặt ngẫu nhiên ở đầu mỗi lần chạy.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4 — ANN-based Soft Robot (VSR) Control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41248"/>
            <a:ext cx="8412480" cy="804672"/>
          </a:xfrm>
          <a:prstGeom prst="rect">
            <a:avLst/>
          </a:prstGeom>
          <a:solidFill>
            <a:srgbClr val="FFF0F0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841248"/>
            <a:ext cx="8092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VSR (Voxel-Based Soft Robot): Robot mềm 2D gồm các ô vuông (voxels) có thể co/giãn — mô phỏng mô cơ. Phức tạp nhất trong nghiên cứu.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kiến trúc controller: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30552"/>
            <a:ext cx="4206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30552"/>
            <a:ext cx="64008" cy="69494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8541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(C)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4414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ANN duy nhất nhận toàn bộ cảm biến, xuất ra contraction cho mọi voxel.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52–280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206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80360"/>
            <a:ext cx="64008" cy="69494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352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Hetero-Distributed (HeD)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19125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voxel có ANN riêng với cảm biến cục bộ.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tất cả tham số → p lớn nhất.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630168"/>
            <a:ext cx="4206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630168"/>
            <a:ext cx="64008" cy="69494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6850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Homo-Distributed (HoD)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94106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 cả voxels dùng chung 1 ANN (cùng kiến trúc và tham số).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dùng với cảm biến đồng nhất.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09160" y="17373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bài toán (tasks):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130552"/>
            <a:ext cx="4069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2130552"/>
            <a:ext cx="54864" cy="3931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16712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Locomotion (Flat)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35000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chuyển xa nhất — địa hình phẳng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2578608"/>
            <a:ext cx="4069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2578608"/>
            <a:ext cx="54864" cy="3931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61518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Locomotion (Hilly)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279806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chuyển xa nhất — địa hình đồi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3026664"/>
            <a:ext cx="4069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3026664"/>
            <a:ext cx="54864" cy="3931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06324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Locomotion (Steppy)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24612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chuyển xa nhất — địa hình bậc thang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3474720"/>
            <a:ext cx="4069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3474720"/>
            <a:ext cx="54864" cy="39319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511296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369417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Nhảy cao nhất có thể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3922776"/>
            <a:ext cx="4069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3922776"/>
            <a:ext cx="54864" cy="393192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95935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414223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thăng bằng trên bập bênh (minimize)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343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Tổng: 15 bài toán (5 tasks × 3 controllers)  |  Biped: Locomotion &amp; Jump  |  Tower: Balance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38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011680" y="164592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Đánh Giá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011680" y="274320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· NoVS · EtTQ — đo lường effectiveness và efficiency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Đánh Giá — NER, NoVS, EtTQ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68680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68680"/>
            <a:ext cx="64008" cy="12344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68680"/>
            <a:ext cx="1645920" cy="1234440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515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1554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Rank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084832" y="868680"/>
            <a:ext cx="6629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mỗi bài toán: xếp hạng tất cả các runs theo fitness cuối → chuẩn hóa rank về [0, 1]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= 0: run đó xếp hạng tốt nhất  |  NER = 1: tệ nhất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phép so sánh hiệu suất EA qua nhiều bài toán khác nhau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8503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12848"/>
            <a:ext cx="64008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212848"/>
            <a:ext cx="1645920" cy="100584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3774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11480" y="28803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Victory Scores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84832" y="2212848"/>
            <a:ext cx="6629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"thắng" bài toán nếu fitness cuối không kém hơn EA tốt nhất một cách có ý nghĩa thống kê (Wilcoxon test, α=0.01)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NoVS = số bài toán mà EA đó thắng (càng lớn càng tốt)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328416"/>
            <a:ext cx="8503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328416"/>
            <a:ext cx="64008" cy="100584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328416"/>
            <a:ext cx="1645920" cy="1005840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930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EtTQ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11480" y="3995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to 3rd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Quartile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084832" y="3328416"/>
            <a:ext cx="6629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Search Efficiency: số lượng fitness evaluations cần để đạt 75% (Q3) của median fitness cuối tốt nhất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EtTQ càng nhỏ → EA càng hội tụ nhanh  |  Nếu không đạt: EtTQ = 10 000 (max)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438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011680" y="164592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Thực Nghiệm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011680" y="274320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EAs × 57 bài toán × 30 runs = 14 040 lượt chạy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Thực Nghiệm — Tổng Quan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68680"/>
            <a:ext cx="23774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68680"/>
            <a:ext cx="237744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68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EA so sánh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325880"/>
            <a:ext cx="214884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325880"/>
            <a:ext cx="45720" cy="274320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3441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CMA-ES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1655064"/>
            <a:ext cx="214884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655064"/>
            <a:ext cx="45720" cy="274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6733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1984248"/>
            <a:ext cx="214884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1984248"/>
            <a:ext cx="45720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0025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313432"/>
            <a:ext cx="214884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313432"/>
            <a:ext cx="4572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3317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ES-0.02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2642616"/>
            <a:ext cx="214884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2642616"/>
            <a:ext cx="4572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6609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ES-0.25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2971800"/>
            <a:ext cx="214884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2971800"/>
            <a:ext cx="4572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9900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ES-0.5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3300984"/>
            <a:ext cx="214884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300984"/>
            <a:ext cx="45720" cy="2743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319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GA-0.02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3630168"/>
            <a:ext cx="214884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630168"/>
            <a:ext cx="45720" cy="2743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6484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GA-0.25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3959352"/>
            <a:ext cx="214884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959352"/>
            <a:ext cx="45720" cy="2743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9776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GA-0.5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97480" y="2286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3000" dirty="0"/>
          </a:p>
        </p:txBody>
      </p:sp>
      <p:sp>
        <p:nvSpPr>
          <p:cNvPr id="37" name="Shape 35"/>
          <p:cNvSpPr/>
          <p:nvPr/>
        </p:nvSpPr>
        <p:spPr>
          <a:xfrm>
            <a:off x="3154680" y="868680"/>
            <a:ext cx="33832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54680" y="868680"/>
            <a:ext cx="3383280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46120" y="868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Bài toán (4 kịch bản)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46120" y="1353312"/>
            <a:ext cx="320040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46120" y="1353312"/>
            <a:ext cx="54864" cy="6217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01568" y="14081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401568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loại × 4 giá trị p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230368" y="1444752"/>
            <a:ext cx="1051560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30368" y="144475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bài toán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46120" y="2066544"/>
            <a:ext cx="320040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46120" y="2066544"/>
            <a:ext cx="54864" cy="62179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01568" y="21214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401568" y="23408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datasets × 3 ANN sizes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230368" y="2157984"/>
            <a:ext cx="105156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30368" y="215798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bài toán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46120" y="2779776"/>
            <a:ext cx="320040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46120" y="2779776"/>
            <a:ext cx="54864" cy="6217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01568" y="2834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Navigation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401568" y="3054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arenas × 3 ANN sizes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230368" y="2871216"/>
            <a:ext cx="1051560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30368" y="287121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bài toán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46120" y="3493008"/>
            <a:ext cx="320040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46120" y="3493008"/>
            <a:ext cx="54864" cy="621792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01568" y="35478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Robot (VSR)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401568" y="37673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 × 3 controllers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230368" y="3584448"/>
            <a:ext cx="1051560" cy="384048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30368" y="358444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bài toán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720840" y="868680"/>
            <a:ext cx="21031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720840" y="868680"/>
            <a:ext cx="2103120" cy="38404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1228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995160" y="1417320"/>
            <a:ext cx="640080" cy="64008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9516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839712" y="20848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(lower = better)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995160" y="2286000"/>
            <a:ext cx="640080" cy="6400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951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NoVS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839712" y="29535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(higher = better)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995160" y="3154680"/>
            <a:ext cx="640080" cy="640080"/>
          </a:xfrm>
          <a:prstGeom prst="ellipse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9516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EtTQ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6839712" y="38221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(lower = better)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20040" y="4325112"/>
            <a:ext cx="8503920" cy="475488"/>
          </a:xfrm>
          <a:prstGeom prst="rect">
            <a:avLst/>
          </a:prstGeom>
          <a:solidFill>
            <a:srgbClr val="EBF8F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7200" y="432511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nrep = 30 runs/bài toán (20 cho VSR — computationally heavy)  |  Tổng: 9×42×30 + 9×15×20 = 14 040 runs  |  Tool: JGEA framework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26280"/>
            <a:ext cx="8823960" cy="13716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Tắt — Formulation &amp; Phương Pháp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8092440" cy="685800"/>
          </a:xfrm>
          <a:prstGeom prst="rect">
            <a:avLst/>
          </a:prstGeom>
          <a:solidFill>
            <a:srgbClr val="1F3A5C"/>
          </a:solidFill>
          <a:ln w="12700">
            <a:solidFill>
              <a:srgbClr val="2D4F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73152" cy="6858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70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gian tìm kiếm: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188720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∈ ℝᵖ cho tất cả EA; với NE thì x = θ (trọng số ANN)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8092440" cy="685800"/>
          </a:xfrm>
          <a:prstGeom prst="rect">
            <a:avLst/>
          </a:prstGeom>
          <a:solidFill>
            <a:srgbClr val="1F3A5C"/>
          </a:solidFill>
          <a:ln w="12700">
            <a:solidFill>
              <a:srgbClr val="2D4F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74520"/>
            <a:ext cx="73152" cy="68580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47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kịch bản tăng dần: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1965960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→ Regression → 2D Nav → VSR Control (p → fitness ngày càng gián tiếp hơn)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8092440" cy="685800"/>
          </a:xfrm>
          <a:prstGeom prst="rect">
            <a:avLst/>
          </a:prstGeom>
          <a:solidFill>
            <a:srgbClr val="1F3A5C"/>
          </a:solidFill>
          <a:ln w="12700">
            <a:solidFill>
              <a:srgbClr val="2D4F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651760"/>
            <a:ext cx="73152" cy="6858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724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EA được so sánh: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743200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CMA-ES, DE, PSO, ES(×3), GA(×3) — GA &amp; DE là EAs duy nhất dùng crossover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429000"/>
            <a:ext cx="8092440" cy="685800"/>
          </a:xfrm>
          <a:prstGeom prst="rect">
            <a:avLst/>
          </a:prstGeom>
          <a:solidFill>
            <a:srgbClr val="1F3A5C"/>
          </a:solidFill>
          <a:ln w="12700">
            <a:solidFill>
              <a:srgbClr val="2D4F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429000"/>
            <a:ext cx="7315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02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chiều đánh giá: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3520440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(NER, NoVS) và Efficiency (EtTQ) — đo trên toàn bộ 57 bài toán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Saliby, Nadizar, Salvato, Medvet — GECCO 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Neuroevolution - Formulation và Phương pháp</dc:title>
  <dc:subject>PptxGenJS Presentation</dc:subject>
  <dc:creator>PptxGenJS</dc:creator>
  <cp:lastModifiedBy>PptxGenJS</cp:lastModifiedBy>
  <cp:revision>1</cp:revision>
  <dcterms:created xsi:type="dcterms:W3CDTF">2026-04-23T09:23:13Z</dcterms:created>
  <dcterms:modified xsi:type="dcterms:W3CDTF">2026-04-23T09:23:13Z</dcterms:modified>
</cp:coreProperties>
</file>